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762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>
                <a:solidFill>
                  <a:srgbClr val="6E809E"/>
                </a:solidFill>
                <a:latin typeface="Calibri"/>
              </a:rPr>
              <a:t>お き す つ な は ま や れ 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Clasificación de caracteres Kuzushiji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con una Red Neuronal Artificial (MLP)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C9D4E8"/>
                </a:solidFill>
                <a:latin typeface="Calibri"/>
              </a:rPr>
              <a:t>Evaluación Parcial N° 1 — Fundamentos de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FFFFFF"/>
                </a:solidFill>
                <a:latin typeface="Calibri"/>
              </a:rPr>
              <a:t>DLY0100 · Deep Learning — Duoc UC</a:t>
            </a:r>
          </a:p>
          <a:p>
            <a:pPr>
              <a:spcAft>
                <a:spcPts val="400"/>
              </a:spcAft>
            </a:pPr>
            <a:r>
              <a:rPr sz="1500" dirty="0" err="1">
                <a:solidFill>
                  <a:srgbClr val="C9D4E8"/>
                </a:solidFill>
                <a:latin typeface="Calibri"/>
              </a:rPr>
              <a:t>Integrantes</a:t>
            </a:r>
            <a:r>
              <a:rPr sz="1500" dirty="0">
                <a:solidFill>
                  <a:srgbClr val="C9D4E8"/>
                </a:solidFill>
                <a:latin typeface="Calibri"/>
              </a:rPr>
              <a:t>: </a:t>
            </a:r>
            <a:r>
              <a:rPr lang="en-US" sz="1500" dirty="0">
                <a:solidFill>
                  <a:srgbClr val="C9D4E8"/>
                </a:solidFill>
                <a:latin typeface="Calibri"/>
              </a:rPr>
              <a:t>Heinrich Werner Gromsch Sanz</a:t>
            </a:r>
            <a:endParaRPr sz="1500" dirty="0">
              <a:solidFill>
                <a:srgbClr val="C9D4E8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500" dirty="0" err="1">
                <a:solidFill>
                  <a:srgbClr val="C9D4E8"/>
                </a:solidFill>
                <a:latin typeface="Calibri"/>
              </a:rPr>
              <a:t>Docente</a:t>
            </a:r>
            <a:r>
              <a:rPr sz="1500" dirty="0">
                <a:solidFill>
                  <a:srgbClr val="C9D4E8"/>
                </a:solidFill>
                <a:latin typeface="Calibri"/>
              </a:rPr>
              <a:t>: </a:t>
            </a:r>
            <a:r>
              <a:rPr lang="en-US" sz="1500" dirty="0">
                <a:solidFill>
                  <a:srgbClr val="C9D4E8"/>
                </a:solidFill>
                <a:latin typeface="Calibri"/>
              </a:rPr>
              <a:t>Victor Andres Trigo Rojas</a:t>
            </a:r>
            <a:r>
              <a:rPr sz="1500" dirty="0">
                <a:solidFill>
                  <a:srgbClr val="C9D4E8"/>
                </a:solidFill>
                <a:latin typeface="Calibri"/>
              </a:rPr>
              <a:t> — </a:t>
            </a:r>
            <a:r>
              <a:rPr sz="1500" dirty="0" err="1">
                <a:solidFill>
                  <a:srgbClr val="C9D4E8"/>
                </a:solidFill>
                <a:latin typeface="Calibri"/>
              </a:rPr>
              <a:t>Octubre</a:t>
            </a:r>
            <a:r>
              <a:rPr sz="1500" dirty="0">
                <a:solidFill>
                  <a:srgbClr val="C9D4E8"/>
                </a:solidFill>
                <a:latin typeface="Calibri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Contenido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" y="1709928"/>
            <a:ext cx="512064" cy="512064"/>
          </a:xfrm>
          <a:prstGeom prst="ellipse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36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El problema y el dataset Kuzushiji-MNIST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4128" y="2852928"/>
            <a:ext cx="512064" cy="512064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9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Carga y preprocesamiento de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4128" y="3995928"/>
            <a:ext cx="512064" cy="512064"/>
          </a:xfrm>
          <a:prstGeom prst="ellipse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922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Arquitectura de la red neuronal (MLP)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37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4128" y="5138928"/>
            <a:ext cx="512064" cy="512064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065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Experimentos controlados: lr, batch size, épocas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508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84848" y="1709928"/>
            <a:ext cx="512064" cy="512064"/>
          </a:xfrm>
          <a:prstGeom prst="ellipse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36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Funciones de activación y de pérdida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651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84848" y="2852928"/>
            <a:ext cx="512064" cy="512064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79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Técnicas de optimización y regularización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794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784848" y="3995928"/>
            <a:ext cx="512064" cy="512064"/>
          </a:xfrm>
          <a:prstGeom prst="ellipse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922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Modelo final, métricas y comparación global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937760"/>
            <a:ext cx="5394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784848" y="5138928"/>
            <a:ext cx="512064" cy="512064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065776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B2B2B"/>
                </a:solidFill>
                <a:latin typeface="Calibri"/>
              </a:rPr>
              <a:t>Conclusiones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718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El problema: leer el pasado de Japón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Dataset Kuzushiji-MNIST · Kaggle (anokas/kuzushiji)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600" b="1">
                <a:solidFill>
                  <a:srgbClr val="2B2B2B"/>
                </a:solidFill>
                <a:latin typeface="Calibri"/>
              </a:rPr>
              <a:t>Kuzushiji</a:t>
            </a:r>
            <a:r>
              <a:rPr sz="1600">
                <a:solidFill>
                  <a:srgbClr val="2B2B2B"/>
                </a:solidFill>
                <a:latin typeface="Calibri"/>
              </a:rPr>
              <a:t> es escritura cursiva japonesa usada por más de 1.000 años;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400">
                <a:solidFill>
                  <a:srgbClr val="2B2B2B"/>
                </a:solidFill>
                <a:latin typeface="Calibri"/>
              </a:rPr>
              <a:t>hoy casi nadie puede leerla → miles de documentos históricos sin transcribir.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600" b="1">
                <a:solidFill>
                  <a:srgbClr val="2B2B2B"/>
                </a:solidFill>
                <a:latin typeface="Calibri"/>
              </a:rPr>
              <a:t>Objetivo:</a:t>
            </a:r>
            <a:r>
              <a:rPr sz="1600">
                <a:solidFill>
                  <a:srgbClr val="2B2B2B"/>
                </a:solidFill>
                <a:latin typeface="Calibri"/>
              </a:rPr>
              <a:t> clasificar imágenes de caracteres en 10 clases de hiragana con un MLP.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600" b="1">
                <a:solidFill>
                  <a:srgbClr val="2B2B2B"/>
                </a:solidFill>
                <a:latin typeface="Calibri"/>
              </a:rPr>
              <a:t>Kuzushiji-MNIST</a:t>
            </a:r>
            <a:r>
              <a:rPr sz="1600">
                <a:solidFill>
                  <a:srgbClr val="2B2B2B"/>
                </a:solidFill>
                <a:latin typeface="Calibri"/>
              </a:rPr>
              <a:t> (del dataset de Kaggle): formato tipo MNIST, pero mucho más difícil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400">
                <a:solidFill>
                  <a:srgbClr val="2B2B2B"/>
                </a:solidFill>
                <a:latin typeface="Calibri"/>
              </a:rPr>
              <a:t>por la variabilidad de los trazos cursivos.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201168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9502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3272B"/>
                </a:solidFill>
                <a:latin typeface="Calibri"/>
              </a:rPr>
              <a:t>70.000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98848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6B6B"/>
                </a:solidFill>
                <a:latin typeface="Calibri"/>
              </a:rPr>
              <a:t>imágenes 28×28 escala de grises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0904" y="3794760"/>
            <a:ext cx="201168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0904" y="39502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3272B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167" y="4498848"/>
            <a:ext cx="14108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6B6B6B"/>
                </a:solidFill>
                <a:latin typeface="Calibri"/>
              </a:rPr>
              <a:t>clases</a:t>
            </a:r>
            <a:r>
              <a:rPr sz="1100" dirty="0">
                <a:solidFill>
                  <a:srgbClr val="6B6B6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6B6B6B"/>
                </a:solidFill>
                <a:latin typeface="Calibri"/>
              </a:rPr>
              <a:t>balanceadas</a:t>
            </a:r>
            <a:r>
              <a:rPr sz="1100" dirty="0">
                <a:solidFill>
                  <a:srgbClr val="6B6B6B"/>
                </a:solidFill>
                <a:latin typeface="Calibri"/>
              </a:rPr>
              <a:t> (6.000 c/u </a:t>
            </a:r>
            <a:r>
              <a:rPr sz="110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dirty="0">
                <a:solidFill>
                  <a:srgbClr val="6B6B6B"/>
                </a:solidFill>
                <a:latin typeface="Calibri"/>
              </a:rPr>
              <a:t> train)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8888" y="3794760"/>
            <a:ext cx="201168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39502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3272B"/>
                </a:solidFill>
                <a:latin typeface="Calibri"/>
              </a:rPr>
              <a:t>60k / 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4498848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6B6B"/>
                </a:solidFill>
                <a:latin typeface="Calibri"/>
              </a:rPr>
              <a:t>train / test (predefinido)</a:t>
            </a:r>
          </a:p>
        </p:txBody>
      </p:sp>
      <p:pic>
        <p:nvPicPr>
          <p:cNvPr id="15" name="Picture 14" descr="01_muestra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4176641" cy="507492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9698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Carga y preprocesamiento de datos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Cada decisión justificada técnicamente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" y="1084073"/>
            <a:ext cx="2212848" cy="128016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6616" y="1084073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163271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050" b="1">
                <a:solidFill>
                  <a:srgbClr val="2B2B2B"/>
                </a:solidFill>
                <a:latin typeface="Calibri"/>
              </a:rPr>
              <a:t>Archivos .npz → arreglos NumPy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B6B6B"/>
                </a:solidFill>
                <a:latin typeface="Calibri"/>
              </a:rPr>
              <a:t>(descarga automática reproducible)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084073"/>
            <a:ext cx="2212848" cy="128016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97480" y="1084073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Normalización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63271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050" b="1">
                <a:solidFill>
                  <a:srgbClr val="2B2B2B"/>
                </a:solidFill>
                <a:latin typeface="Calibri"/>
              </a:rPr>
              <a:t>Píxeles [0,255] → [0,1]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B6B6B"/>
                </a:solidFill>
                <a:latin typeface="Calibri"/>
              </a:rPr>
              <a:t>estabiliza gradientes y acelera convergencia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1084073"/>
            <a:ext cx="2212848" cy="128016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38344" y="1084073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Aplanado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63271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050" b="1">
                <a:solidFill>
                  <a:srgbClr val="2B2B2B"/>
                </a:solidFill>
                <a:latin typeface="Calibri"/>
              </a:rPr>
              <a:t>28×28 → vector de 784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B6B6B"/>
                </a:solidFill>
                <a:latin typeface="Calibri"/>
              </a:rPr>
              <a:t>el MLP recibe vectores 1D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7" y="1084073"/>
            <a:ext cx="2212848" cy="128016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79207" y="1084073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One-hot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5" y="163271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050" b="1">
                <a:solidFill>
                  <a:srgbClr val="2B2B2B"/>
                </a:solidFill>
                <a:latin typeface="Calibri"/>
              </a:rPr>
              <a:t>Etiqueta → vector de 10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B6B6B"/>
                </a:solidFill>
                <a:latin typeface="Calibri"/>
              </a:rPr>
              <a:t>coherente con softmax + cross-entropy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084073"/>
            <a:ext cx="2212848" cy="128016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20072" y="1084073"/>
            <a:ext cx="2212848" cy="457200"/>
          </a:xfrm>
          <a:prstGeom prst="roundRect">
            <a:avLst>
              <a:gd name="adj" fmla="val 25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División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63271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050" b="1">
                <a:solidFill>
                  <a:srgbClr val="2B2B2B"/>
                </a:solidFill>
                <a:latin typeface="Calibri"/>
              </a:rPr>
              <a:t>54.000 train / 6.000 val / 10.000 test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B6B6B"/>
                </a:solidFill>
                <a:latin typeface="Calibri"/>
              </a:rPr>
              <a:t>val estratificado; test intocable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2649785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¿Por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qué</a:t>
            </a:r>
            <a:r>
              <a:rPr sz="1400" b="1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separar</a:t>
            </a:r>
            <a:r>
              <a:rPr sz="1400" b="1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validación</a:t>
            </a:r>
            <a:r>
              <a:rPr sz="1400" b="1" dirty="0">
                <a:solidFill>
                  <a:srgbClr val="2B2B2B"/>
                </a:solidFill>
                <a:latin typeface="Calibri"/>
              </a:rPr>
              <a:t> y test?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Los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experimentos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se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comparan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con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validación</a:t>
            </a:r>
            <a:r>
              <a:rPr sz="1400" dirty="0">
                <a:solidFill>
                  <a:srgbClr val="2B2B2B"/>
                </a:solidFill>
                <a:latin typeface="Calibri"/>
              </a:rPr>
              <a:t>; el test se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usa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sola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vez</a:t>
            </a:r>
            <a:r>
              <a:rPr sz="1400" dirty="0">
                <a:solidFill>
                  <a:srgbClr val="2B2B2B"/>
                </a:solidFill>
                <a:latin typeface="Calibri"/>
              </a:rPr>
              <a:t>, al final →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evaluación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honesta</a:t>
            </a:r>
            <a:r>
              <a:rPr sz="1400" dirty="0">
                <a:solidFill>
                  <a:srgbClr val="2B2B2B"/>
                </a:solidFill>
                <a:latin typeface="Calibri"/>
              </a:rPr>
              <a:t>, sin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fuga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información</a:t>
            </a:r>
            <a:r>
              <a:rPr sz="140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Dataset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balanceado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(6.000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ejemplos</a:t>
            </a:r>
            <a:r>
              <a:rPr sz="1400" dirty="0">
                <a:solidFill>
                  <a:srgbClr val="2B2B2B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clase</a:t>
            </a:r>
            <a:r>
              <a:rPr sz="1400" dirty="0">
                <a:solidFill>
                  <a:srgbClr val="2B2B2B"/>
                </a:solidFill>
                <a:latin typeface="Calibri"/>
              </a:rPr>
              <a:t>) → no se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requiere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rebalanceo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ni</a:t>
            </a:r>
            <a:r>
              <a:rPr sz="1400" dirty="0">
                <a:solidFill>
                  <a:srgbClr val="2B2B2B"/>
                </a:solidFill>
                <a:latin typeface="Calibri"/>
              </a:rPr>
              <a:t> pesos de </a:t>
            </a:r>
            <a:r>
              <a:rPr sz="1400" dirty="0" err="1">
                <a:solidFill>
                  <a:srgbClr val="2B2B2B"/>
                </a:solidFill>
                <a:latin typeface="Calibri"/>
              </a:rPr>
              <a:t>clase</a:t>
            </a:r>
            <a:r>
              <a:rPr sz="140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pic>
        <p:nvPicPr>
          <p:cNvPr id="21" name="Picture 20" descr="02_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77" y="3530768"/>
            <a:ext cx="7000539" cy="2913312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Arquitectura de la red neuronal (MLP)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Perceptrón multicapa densamente conectado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344168" y="1755648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44168" y="1755648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44168" y="1755648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44168" y="1755648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44168" y="1755648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44168" y="1755648"/>
            <a:ext cx="2103120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44168" y="1755648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44168" y="2322576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44168" y="2322576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4168" y="2322576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44168" y="2322576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4168" y="2322576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44168" y="1755648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4168" y="2322576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44168" y="2889504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4168" y="2889504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44168" y="2889504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44168" y="2889504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44168" y="1755648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44168" y="2322576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44168" y="2889504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44168" y="3456432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44168" y="3456432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44168" y="3456432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44168" y="1755648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44168" y="2322576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44168" y="2889504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344168" y="3456432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44168" y="4023360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44168" y="4023360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44168" y="1755648"/>
            <a:ext cx="2103120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344168" y="2322576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44168" y="2889504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44168" y="3456432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44168" y="4023360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44168" y="4590288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47288" y="1755648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47288" y="1755648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47288" y="1755648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47288" y="1755648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47288" y="1755648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447288" y="1755648"/>
            <a:ext cx="2103120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447288" y="1755648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447288" y="2322576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447288" y="2322576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47288" y="2322576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447288" y="2322576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447288" y="2322576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447288" y="1755648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447288" y="2322576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447288" y="2889504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47288" y="2889504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447288" y="2889504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447288" y="2889504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447288" y="1755648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447288" y="2322576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47288" y="2889504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47288" y="3456432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447288" y="3456432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447288" y="3456432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447288" y="1755648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7288" y="2322576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47288" y="2889504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447288" y="3456432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447288" y="4023360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447288" y="4023360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447288" y="1755648"/>
            <a:ext cx="2103120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447288" y="2322576"/>
            <a:ext cx="2103120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447288" y="2889504"/>
            <a:ext cx="2103120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447288" y="3456432"/>
            <a:ext cx="2103120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447288" y="4023360"/>
            <a:ext cx="2103120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447288" y="4590288"/>
            <a:ext cx="2103120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550408" y="1755648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550408" y="1755648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550408" y="1755648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550408" y="1755648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550408" y="1755648"/>
            <a:ext cx="2103119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550408" y="1755648"/>
            <a:ext cx="2103119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550408" y="1755648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550408" y="2322576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550408" y="2322576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550408" y="2322576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550408" y="2322576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550408" y="2322576"/>
            <a:ext cx="2103119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550408" y="1755648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550408" y="2322576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550408" y="2889504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550408" y="2889504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550408" y="2889504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550408" y="2889504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550408" y="1755648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5550408" y="2322576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550408" y="2889504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550408" y="3456432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550408" y="3456432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550408" y="3456432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550408" y="1755648"/>
            <a:ext cx="2103119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550408" y="2322576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50408" y="2889504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550408" y="3456432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550408" y="4023360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50408" y="4023360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550408" y="1755648"/>
            <a:ext cx="2103119" cy="283464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550408" y="2322576"/>
            <a:ext cx="2103119" cy="2267712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550408" y="2889504"/>
            <a:ext cx="2103119" cy="1700784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550408" y="3456432"/>
            <a:ext cx="2103119" cy="1133856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50408" y="4023360"/>
            <a:ext cx="2103119" cy="566928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550408" y="4590288"/>
            <a:ext cx="2103119" cy="0"/>
          </a:xfrm>
          <a:prstGeom prst="line">
            <a:avLst/>
          </a:prstGeom>
          <a:ln w="1143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1188720" y="1600200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188720" y="2167128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188720" y="2734056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188720" y="3300984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188720" y="3867912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188720" y="4434840"/>
            <a:ext cx="310896" cy="310896"/>
          </a:xfrm>
          <a:prstGeom prst="ellipse">
            <a:avLst/>
          </a:prstGeom>
          <a:solidFill>
            <a:srgbClr val="4C72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48640" y="5074920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Entrada</a:t>
            </a:r>
          </a:p>
          <a:p>
            <a:pPr algn="ctr"/>
            <a:r>
              <a:rPr sz="1200">
                <a:solidFill>
                  <a:srgbClr val="6B6B6B"/>
                </a:solidFill>
                <a:latin typeface="Calibri"/>
              </a:rPr>
              <a:t>784</a:t>
            </a:r>
          </a:p>
        </p:txBody>
      </p:sp>
      <p:sp>
        <p:nvSpPr>
          <p:cNvPr id="120" name="Oval 119"/>
          <p:cNvSpPr/>
          <p:nvPr/>
        </p:nvSpPr>
        <p:spPr>
          <a:xfrm>
            <a:off x="3291840" y="1600200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291840" y="2167128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3291840" y="2734056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3291840" y="3300984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291840" y="3867912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291840" y="4434840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651760" y="5074920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Oculta 1</a:t>
            </a:r>
          </a:p>
          <a:p>
            <a:pPr algn="ctr"/>
            <a:r>
              <a:rPr sz="1200">
                <a:solidFill>
                  <a:srgbClr val="6B6B6B"/>
                </a:solidFill>
                <a:latin typeface="Calibri"/>
              </a:rPr>
              <a:t>128 · ReLU</a:t>
            </a:r>
          </a:p>
        </p:txBody>
      </p:sp>
      <p:sp>
        <p:nvSpPr>
          <p:cNvPr id="127" name="Oval 126"/>
          <p:cNvSpPr/>
          <p:nvPr/>
        </p:nvSpPr>
        <p:spPr>
          <a:xfrm>
            <a:off x="5394960" y="1600200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5394960" y="2167128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5394960" y="2734056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5394960" y="3300984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5394960" y="3867912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5394960" y="4434840"/>
            <a:ext cx="310896" cy="31089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54880" y="5074920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Oculta 2</a:t>
            </a:r>
          </a:p>
          <a:p>
            <a:pPr algn="ctr"/>
            <a:r>
              <a:rPr sz="1200">
                <a:solidFill>
                  <a:srgbClr val="6B6B6B"/>
                </a:solidFill>
                <a:latin typeface="Calibri"/>
              </a:rPr>
              <a:t>64 · ReLU</a:t>
            </a:r>
          </a:p>
        </p:txBody>
      </p:sp>
      <p:sp>
        <p:nvSpPr>
          <p:cNvPr id="134" name="Oval 133"/>
          <p:cNvSpPr/>
          <p:nvPr/>
        </p:nvSpPr>
        <p:spPr>
          <a:xfrm>
            <a:off x="7498079" y="1600200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7498079" y="2167128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7498079" y="2734056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7498079" y="3300984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498079" y="3867912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7498079" y="4434840"/>
            <a:ext cx="310896" cy="310896"/>
          </a:xfrm>
          <a:prstGeom prst="ellipse">
            <a:avLst/>
          </a:prstGeom>
          <a:solidFill>
            <a:srgbClr val="C327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857999" y="5074920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Salida</a:t>
            </a:r>
          </a:p>
          <a:p>
            <a:pPr algn="ctr"/>
            <a:r>
              <a:rPr sz="1200">
                <a:solidFill>
                  <a:srgbClr val="6B6B6B"/>
                </a:solidFill>
                <a:latin typeface="Calibri"/>
              </a:rPr>
              <a:t>10 · Softmax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549640" y="1325880"/>
            <a:ext cx="324612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732520" y="15087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Dos capas ocultas</a:t>
            </a:r>
            <a:r>
              <a:rPr sz="1250">
                <a:solidFill>
                  <a:srgbClr val="2B2B2B"/>
                </a:solidFill>
                <a:latin typeface="Calibri"/>
              </a:rPr>
              <a:t> (128 → 64): capacidad suficiente en embudo hacia la salida.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ReLU</a:t>
            </a:r>
            <a:r>
              <a:rPr sz="1250">
                <a:solidFill>
                  <a:srgbClr val="2B2B2B"/>
                </a:solidFill>
                <a:latin typeface="Calibri"/>
              </a:rPr>
              <a:t> en ocultas: gradientes fuertes, sin saturación.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Softmax</a:t>
            </a:r>
            <a:r>
              <a:rPr sz="1250">
                <a:solidFill>
                  <a:srgbClr val="2B2B2B"/>
                </a:solidFill>
                <a:latin typeface="Calibri"/>
              </a:rPr>
              <a:t> en salida: probabilidades que suman 1 (10 clases excluyentes).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~110.000 parámetros</a:t>
            </a:r>
            <a:r>
              <a:rPr sz="1250">
                <a:solidFill>
                  <a:srgbClr val="2B2B2B"/>
                </a:solidFill>
                <a:latin typeface="Calibri"/>
              </a:rPr>
              <a:t>: suficiente para 60.000 ejemplos.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>
                <a:solidFill>
                  <a:srgbClr val="2B2B2B"/>
                </a:solidFill>
                <a:latin typeface="Calibri"/>
              </a:rPr>
              <a:t>Todas las funciones se validan experimentalmente más adelante.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Experimentos controlados: un parámetro a la vez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Misma arquitectura · mismos datos · misma semilla (42) → comparabilidad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500" b="1">
                <a:solidFill>
                  <a:srgbClr val="2B2B2B"/>
                </a:solidFill>
                <a:latin typeface="Calibri"/>
              </a:rPr>
              <a:t>Metodología:</a:t>
            </a:r>
            <a:r>
              <a:rPr sz="1500">
                <a:solidFill>
                  <a:srgbClr val="2B2B2B"/>
                </a:solidFill>
                <a:latin typeface="Calibri"/>
              </a:rPr>
              <a:t> partir del modelo base y variar un único parámetro por experimento;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300">
                <a:solidFill>
                  <a:srgbClr val="2B2B2B"/>
                </a:solidFill>
                <a:latin typeface="Calibri"/>
              </a:rPr>
              <a:t>toda diferencia en los resultados es atribuible solo al parámetro modificado.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500" b="1">
                <a:solidFill>
                  <a:srgbClr val="2B2B2B"/>
                </a:solidFill>
                <a:latin typeface="Calibri"/>
              </a:rPr>
              <a:t>Configuración base:</a:t>
            </a:r>
            <a:r>
              <a:rPr sz="1500">
                <a:solidFill>
                  <a:srgbClr val="2B2B2B"/>
                </a:solidFill>
                <a:latin typeface="Calibri"/>
              </a:rPr>
              <a:t> 2 capas ocultas (128-64), ReLU, cross-entropy, Adam.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60604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Experimento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Valores probados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 mantiene fijo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4.1 · Tasa de aprendizaje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0,1 / 0,01 / 0,001 / 0,0001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batch = 64 · 10 épocas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4.2 · Tamaño del batch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32 / 64 / 128 / 256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lr = 0,001 · 10 épocas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4.3 · N° de épocas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30 épocas (diagnóstico)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lr = 0,001 · batch =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400">
                <a:solidFill>
                  <a:srgbClr val="2B2B2B"/>
                </a:solidFill>
                <a:latin typeface="Calibri"/>
              </a:rPr>
              <a:t>Cada configuración se evalúa con accuracy, precision, recall y F1 sobre validación,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400">
                <a:solidFill>
                  <a:srgbClr val="2B2B2B"/>
                </a:solidFill>
                <a:latin typeface="Calibri"/>
              </a:rPr>
              <a:t>y se analizan las curvas de pérdida y accuracy (entrenamiento vs validación).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Experimento 1 · Impacto de la tasa de aprendizaje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lr ∈ {0.1 · 0.01 · 0.001 · 0.0001} — batch y épocas fijos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exp_learnin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9285"/>
            <a:ext cx="8778240" cy="300547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464040" y="141732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lr = 0,1 → diverge:</a:t>
            </a:r>
            <a:r>
              <a:rPr sz="1300">
                <a:solidFill>
                  <a:srgbClr val="2B2B2B"/>
                </a:solidFill>
                <a:latin typeface="Calibri"/>
              </a:rPr>
              <a:t> pasos demasiado grandes; accuracy = 0,18, casi al nivel del azar (10%).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lr = 0,0001 → aprende demasiado lento:</a:t>
            </a:r>
            <a:r>
              <a:rPr sz="1300">
                <a:solidFill>
                  <a:srgbClr val="2B2B2B"/>
                </a:solidFill>
                <a:latin typeface="Calibri"/>
              </a:rPr>
              <a:t> no converge en el mismo n° de épocas.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lr = 0,001 → equilibrio óptimo</a:t>
            </a:r>
            <a:r>
              <a:rPr sz="1300">
                <a:solidFill>
                  <a:srgbClr val="2B2B2B"/>
                </a:solidFill>
                <a:latin typeface="Calibri"/>
              </a:rPr>
              <a:t> entre velocidad y estabilidad (val. accuracy = 0,948).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548640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Decisión: lr = 0,001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Experimento 2 · Impacto del tamaño del batch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batch ∈ {32 · 64 · 128 · 256} — lr y épocas fijos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exp_batch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8778240" cy="300547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464040" y="141732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Batch 32:</a:t>
            </a:r>
            <a:r>
              <a:rPr sz="1300">
                <a:solidFill>
                  <a:srgbClr val="2B2B2B"/>
                </a:solidFill>
                <a:latin typeface="Calibri"/>
              </a:rPr>
              <a:t> menor accuracy (0,943) y más lento: gradientes ruidosos.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Batch 128/256:</a:t>
            </a:r>
            <a:r>
              <a:rPr sz="1300">
                <a:solidFill>
                  <a:srgbClr val="2B2B2B"/>
                </a:solidFill>
                <a:latin typeface="Calibri"/>
              </a:rPr>
              <a:t> más rápidos y menor pérdida, pero algo menos de accuracy (menos actualizaciones/época).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Batch 64:</a:t>
            </a:r>
            <a:r>
              <a:rPr sz="1300">
                <a:solidFill>
                  <a:srgbClr val="2B2B2B"/>
                </a:solidFill>
                <a:latin typeface="Calibri"/>
              </a:rPr>
              <a:t> mejor accuracy de validación (0,952) a costo moderado.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548640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Decisión: batch =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Experimento 3 · Número de épocas y sobreajuste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Entrenamiento de diagnóstico a 30 épocas sin parada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exp_epo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8778240" cy="300547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464040" y="1417320"/>
            <a:ext cx="2514600" cy="237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dirty="0">
                <a:solidFill>
                  <a:srgbClr val="2B2B2B"/>
                </a:solidFill>
                <a:latin typeface="Calibri"/>
              </a:rPr>
              <a:t>Al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inicio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, ambas curvas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mejoran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juntas (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aprendizaje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útil</a:t>
            </a:r>
            <a:r>
              <a:rPr sz="1300" dirty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dirty="0">
                <a:solidFill>
                  <a:srgbClr val="2B2B2B"/>
                </a:solidFill>
                <a:latin typeface="Calibri"/>
              </a:rPr>
              <a:t>Tras el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mínimo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val_loss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, el train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sigue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mejorando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y la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validación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se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estanca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→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sobreajuste</a:t>
            </a:r>
            <a:r>
              <a:rPr sz="130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 dirty="0" err="1">
                <a:solidFill>
                  <a:srgbClr val="2B2B2B"/>
                </a:solidFill>
                <a:latin typeface="Calibri"/>
              </a:rPr>
              <a:t>Conclusión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: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no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fijar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épocas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a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ciegas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→ usar 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Early Stopping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paciencia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6,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restaurar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mejores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pesos).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548640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Decisión: 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Funciones de activación: comparación experimental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Misma arquitectura y configuración; solo cambia la función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exp_activ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8392"/>
            <a:ext cx="7863840" cy="2692408"/>
          </a:xfrm>
          <a:prstGeom prst="rect">
            <a:avLst/>
          </a:prstGeom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617720"/>
          <a:ext cx="6766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Configuración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ReLU / loss=CrossEntropy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sigmoid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0.9507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0.9511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0.9507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0.9507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41732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ReLU:</a:t>
            </a:r>
            <a:r>
              <a:rPr sz="1300">
                <a:solidFill>
                  <a:srgbClr val="2B2B2B"/>
                </a:solidFill>
                <a:latin typeface="Calibri"/>
              </a:rPr>
              <a:t> converge más rápido y logra el mejor desempeño.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Tanh:</a:t>
            </a:r>
            <a:r>
              <a:rPr sz="1300">
                <a:solidFill>
                  <a:srgbClr val="2B2B2B"/>
                </a:solidFill>
                <a:latin typeface="Calibri"/>
              </a:rPr>
              <a:t> intermedio; satura en los extremos.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Sigmoid:</a:t>
            </a:r>
            <a:r>
              <a:rPr sz="1300">
                <a:solidFill>
                  <a:srgbClr val="2B2B2B"/>
                </a:solidFill>
                <a:latin typeface="Calibri"/>
              </a:rPr>
              <a:t> gradiente desvaneciente → aprendizaje más lento.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548640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Selección: 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Funciones de pérdida: comparación experimental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Categorical cross-entropy vs. error cuadrático medio (MSE)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8_exp_per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192"/>
            <a:ext cx="7863840" cy="269240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549640" y="137160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Cross-entropy + softmax:</a:t>
            </a:r>
            <a:r>
              <a:rPr sz="1300">
                <a:solidFill>
                  <a:srgbClr val="2B2B2B"/>
                </a:solidFill>
                <a:latin typeface="Calibri"/>
              </a:rPr>
              <a:t> maximiza directamente la probabilidad de la clase correcta;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100">
                <a:solidFill>
                  <a:srgbClr val="2B2B2B"/>
                </a:solidFill>
                <a:latin typeface="Calibri"/>
              </a:rPr>
              <a:t>gradientes bien comportados → converge más rápido y con mejor accuracy.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MSE:</a:t>
            </a:r>
            <a:r>
              <a:rPr sz="1300">
                <a:solidFill>
                  <a:srgbClr val="2B2B2B"/>
                </a:solidFill>
                <a:latin typeface="Calibri"/>
              </a:rPr>
              <a:t> pensada para regresión; no refleja directamente el objetivo de clasificar.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>
                <a:solidFill>
                  <a:srgbClr val="2B2B2B"/>
                </a:solidFill>
                <a:latin typeface="Calibri"/>
              </a:rPr>
              <a:t>Salida softmax:</a:t>
            </a:r>
            <a:r>
              <a:rPr sz="1300">
                <a:solidFill>
                  <a:srgbClr val="2B2B2B"/>
                </a:solidFill>
                <a:latin typeface="Calibri"/>
              </a:rPr>
              <a:t> única coherente con 10 clases excluyentes (probabilidades suman 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548640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Selección: Cross-entropy + Softmax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Optimización y regularización: con vs. sin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Dropout(0.3) · Batch Normalization · la brecha sombreada = sobreajuste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brecha_sobreaju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234440"/>
            <a:ext cx="10241280" cy="2582203"/>
          </a:xfrm>
          <a:prstGeom prst="rect">
            <a:avLst/>
          </a:prstGeom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572000"/>
          <a:ext cx="6583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Configuración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Val. loss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Dropout(0.3)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0.9535125630745164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0.1749775856733322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BatchNorm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0.9541666666666668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0.9542030539752944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0.2459799200296402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Dropout+BatchNorm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0.9585513569942308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0.1484572738409042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Sin regularización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0.9521666666666668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0.9522214803574212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0.27698615193367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448056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Sin regularización:</a:t>
            </a:r>
            <a:r>
              <a:rPr sz="1250">
                <a:solidFill>
                  <a:srgbClr val="2B2B2B"/>
                </a:solidFill>
                <a:latin typeface="Calibri"/>
              </a:rPr>
              <a:t> mayor brecha train–val (memoriza).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Dropout:</a:t>
            </a:r>
            <a:r>
              <a:rPr sz="1250">
                <a:solidFill>
                  <a:srgbClr val="2B2B2B"/>
                </a:solidFill>
                <a:latin typeface="Calibri"/>
              </a:rPr>
              <a:t> apaga neuronas al azar → generaliza mejor.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BatchNorm:</a:t>
            </a:r>
            <a:r>
              <a:rPr sz="1250">
                <a:solidFill>
                  <a:srgbClr val="2B2B2B"/>
                </a:solidFill>
                <a:latin typeface="Calibri"/>
              </a:rPr>
              <a:t> estabiliza y acelera la convergencia.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250" b="1">
                <a:solidFill>
                  <a:srgbClr val="2B2B2B"/>
                </a:solidFill>
                <a:latin typeface="Calibri"/>
              </a:rPr>
              <a:t>Combinadas:</a:t>
            </a:r>
            <a:r>
              <a:rPr sz="1250">
                <a:solidFill>
                  <a:srgbClr val="2B2B2B"/>
                </a:solidFill>
                <a:latin typeface="Calibri"/>
              </a:rPr>
              <a:t> menor brecha + mejor validación.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Modelo final: todas las decisiones con evidencia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Cada hiperparámetro proviene de un experimento controlado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5852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 final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Activación oculta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§5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Pérdida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Categorical cross-entropy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Optimizador / lr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Adam / 0,001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§4.1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Regularización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Dropout 0,3 + BatchNorm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§6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Épocas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§4.3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11_modelo_final_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94960" cy="1847117"/>
          </a:xfrm>
          <a:prstGeom prst="rect">
            <a:avLst/>
          </a:prstGeom>
          <a:effectLst/>
        </p:spPr>
      </p:pic>
      <p:sp>
        <p:nvSpPr>
          <p:cNvPr id="7" name="Rounded Rectangle 6"/>
          <p:cNvSpPr/>
          <p:nvPr/>
        </p:nvSpPr>
        <p:spPr>
          <a:xfrm>
            <a:off x="502920" y="4892040"/>
            <a:ext cx="11155680" cy="1234440"/>
          </a:xfrm>
          <a:prstGeom prst="roundRect">
            <a:avLst>
              <a:gd name="adj" fmla="val 4500"/>
            </a:avLst>
          </a:prstGeom>
          <a:solidFill>
            <a:srgbClr val="EDF6E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5A868"/>
                </a:solidFill>
                <a:latin typeface="Calibri"/>
              </a:rPr>
              <a:t>Resultado en test: accuracy = 0,8845  ·  F1-score = 0,8844</a:t>
            </a:r>
          </a:p>
          <a:p>
            <a:r>
              <a:rPr sz="1200">
                <a:solidFill>
                  <a:srgbClr val="2B2B2B"/>
                </a:solidFill>
                <a:latin typeface="Calibri"/>
              </a:rPr>
              <a:t>Early Stopping detuvo el entrenamiento en el punto óptimo y restauró los mejores pesos; la brecha de sobreajuste se redujo notablemente.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Evaluación: cómo se calcula cada métrica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Evaluadas una sola vez sobre el conjunto de test (10.000 imágenes)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706624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2706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E4057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7066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TP + TN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──────────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6B6B6B"/>
                </a:solidFill>
                <a:latin typeface="Calibri"/>
              </a:rPr>
              <a:t>proporción global de aciertos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325880"/>
            <a:ext cx="2706624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92424" y="1463040"/>
            <a:ext cx="2706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E4057"/>
                </a:solidFill>
                <a:latin typeface="Calibri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874519"/>
            <a:ext cx="27066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TP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──────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TP + 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8346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6B6B6B"/>
                </a:solidFill>
                <a:latin typeface="Calibri"/>
              </a:rPr>
              <a:t>de lo predicho como clase c, ¿cuánto era correcto?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2706624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463040"/>
            <a:ext cx="2706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E4057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874519"/>
            <a:ext cx="27066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TP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──────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TP + 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346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6B6B6B"/>
                </a:solidFill>
                <a:latin typeface="Calibri"/>
              </a:rPr>
              <a:t>de lo realmente clase c, ¿cuánto se recuperó?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325880"/>
            <a:ext cx="2706624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463040"/>
            <a:ext cx="27066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E4057"/>
                </a:solidFill>
                <a:latin typeface="Calibri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874519"/>
            <a:ext cx="27066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2 · P · R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──────</a:t>
            </a:r>
          </a:p>
          <a:p>
            <a:pPr algn="ctr"/>
            <a:r>
              <a:rPr sz="1500">
                <a:solidFill>
                  <a:srgbClr val="2B2B2B"/>
                </a:solidFill>
                <a:latin typeface="Cambria Math"/>
              </a:rPr>
              <a:t>P +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83464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6B6B6B"/>
                </a:solidFill>
                <a:latin typeface="Calibri"/>
              </a:rPr>
              <a:t>media armónica de precision y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500" b="1">
                <a:solidFill>
                  <a:srgbClr val="2B2B2B"/>
                </a:solidFill>
                <a:latin typeface="Calibri"/>
              </a:rPr>
              <a:t>Cuadro resumen obtenido (test):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4343400"/>
          <a:ext cx="57607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0,8845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Precision (macro)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0,8856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Recall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0,8845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F1-score (macro)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0,8844</a:t>
                      </a:r>
                    </a:p>
                  </a:txBody>
                  <a:tcPr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949440" y="3931920"/>
            <a:ext cx="4754880" cy="135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b="1" dirty="0" err="1">
                <a:solidFill>
                  <a:srgbClr val="2B2B2B"/>
                </a:solidFill>
                <a:latin typeface="Calibri"/>
              </a:rPr>
              <a:t>Interpretación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: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dirty="0">
                <a:solidFill>
                  <a:srgbClr val="2B2B2B"/>
                </a:solidFill>
                <a:latin typeface="Calibri"/>
              </a:rPr>
              <a:t>Precision ≈ Recall ≈ F1 ≈ Accuracy →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modelo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equilibrado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entre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clases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dirty="0">
                <a:solidFill>
                  <a:srgbClr val="2B2B2B"/>
                </a:solidFill>
                <a:latin typeface="Calibri"/>
              </a:rPr>
              <a:t>Dataset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balanceado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→ accuracy es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representativo</a:t>
            </a:r>
            <a:r>
              <a:rPr sz="130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00" dirty="0">
                <a:solidFill>
                  <a:srgbClr val="2B2B2B"/>
                </a:solidFill>
                <a:latin typeface="Calibri"/>
              </a:rPr>
              <a:t>Muy superior al azar (10%) →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aprende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B2B2B"/>
                </a:solidFill>
                <a:latin typeface="Calibri"/>
              </a:rPr>
              <a:t>patrones</a:t>
            </a:r>
            <a:r>
              <a:rPr sz="1300" dirty="0">
                <a:solidFill>
                  <a:srgbClr val="2B2B2B"/>
                </a:solidFill>
                <a:latin typeface="Calibri"/>
              </a:rPr>
              <a:t> reales.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¿Dónde se equivoca el modelo?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Matriz de confusión y ejemplos mal clasificados (test)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1199896"/>
            <a:ext cx="5644205" cy="4937760"/>
          </a:xfrm>
          <a:prstGeom prst="rect">
            <a:avLst/>
          </a:prstGeom>
          <a:effectLst/>
        </p:spPr>
      </p:pic>
      <p:pic>
        <p:nvPicPr>
          <p:cNvPr id="6" name="Picture 5" descr="13_error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70" y="1199896"/>
            <a:ext cx="5729207" cy="17454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993829" y="3912677"/>
            <a:ext cx="6126480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dirty="0">
                <a:solidFill>
                  <a:srgbClr val="2B2B2B"/>
                </a:solidFill>
                <a:latin typeface="Calibri"/>
              </a:rPr>
              <a:t>Los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errores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se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concentran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pares de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caracteres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cursivamente</a:t>
            </a:r>
            <a:r>
              <a:rPr sz="1350" b="1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similares</a:t>
            </a:r>
            <a:endParaRPr sz="1350" dirty="0">
              <a:solidFill>
                <a:srgbClr val="2B2B2B"/>
              </a:solidFill>
              <a:latin typeface="Calibri"/>
            </a:endParaRP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150" dirty="0">
                <a:solidFill>
                  <a:srgbClr val="2B2B2B"/>
                </a:solidFill>
                <a:latin typeface="Calibri"/>
              </a:rPr>
              <a:t>(la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escritura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cursiva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fusiona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y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simplifica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trazos</a:t>
            </a:r>
            <a:r>
              <a:rPr sz="1150" dirty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dirty="0">
                <a:solidFill>
                  <a:srgbClr val="2B2B2B"/>
                </a:solidFill>
                <a:latin typeface="Calibri"/>
              </a:rPr>
              <a:t>Las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imágenes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mal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clasificadas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muestran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trazos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ambiguos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,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buChar char="–"/>
            </a:pPr>
            <a:r>
              <a:rPr sz="1150" dirty="0" err="1">
                <a:solidFill>
                  <a:srgbClr val="2B2B2B"/>
                </a:solidFill>
                <a:latin typeface="Calibri"/>
              </a:rPr>
              <a:t>difíciles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incluso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para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1150" dirty="0">
                <a:solidFill>
                  <a:srgbClr val="2B2B2B"/>
                </a:solidFill>
                <a:latin typeface="Calibri"/>
              </a:rPr>
              <a:t> persona sin </a:t>
            </a:r>
            <a:r>
              <a:rPr sz="1150" dirty="0" err="1">
                <a:solidFill>
                  <a:srgbClr val="2B2B2B"/>
                </a:solidFill>
                <a:latin typeface="Calibri"/>
              </a:rPr>
              <a:t>contexto</a:t>
            </a:r>
            <a:r>
              <a:rPr sz="115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Comparación global de todas las configuraciones</a:t>
            </a:r>
          </a:p>
          <a:p>
            <a:r>
              <a:rPr sz="1300">
                <a:solidFill>
                  <a:srgbClr val="C9D4E8"/>
                </a:solidFill>
                <a:latin typeface="Calibri"/>
              </a:rPr>
              <a:t>18 pruebas · métricas sobre validación · verde = modelo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4_comparacion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223760" cy="394023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931920" cy="219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b="1" dirty="0" err="1">
                <a:solidFill>
                  <a:srgbClr val="2B2B2B"/>
                </a:solidFill>
                <a:latin typeface="Calibri"/>
              </a:rPr>
              <a:t>Hallazgos</a:t>
            </a:r>
            <a:r>
              <a:rPr sz="1350" b="1" dirty="0">
                <a:solidFill>
                  <a:srgbClr val="2B2B2B"/>
                </a:solidFill>
                <a:latin typeface="Calibri"/>
              </a:rPr>
              <a:t> clave: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dirty="0">
                <a:solidFill>
                  <a:srgbClr val="2B2B2B"/>
                </a:solidFill>
                <a:latin typeface="Calibri"/>
              </a:rPr>
              <a:t>La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tasa</a:t>
            </a:r>
            <a:r>
              <a:rPr sz="1350" b="1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aprendizaje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es el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hiperparámetro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más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crítico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(0,1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destruye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el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aprendizaje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b="1" dirty="0" err="1">
                <a:solidFill>
                  <a:srgbClr val="2B2B2B"/>
                </a:solidFill>
                <a:latin typeface="Calibri"/>
              </a:rPr>
              <a:t>ReLU</a:t>
            </a:r>
            <a:r>
              <a:rPr sz="1350" b="1" dirty="0">
                <a:solidFill>
                  <a:srgbClr val="2B2B2B"/>
                </a:solidFill>
                <a:latin typeface="Calibri"/>
              </a:rPr>
              <a:t> &gt; tanh &gt; sigmoid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igualdad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condiciones</a:t>
            </a:r>
            <a:r>
              <a:rPr sz="135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b="1" dirty="0">
                <a:solidFill>
                  <a:srgbClr val="2B2B2B"/>
                </a:solidFill>
                <a:latin typeface="Calibri"/>
              </a:rPr>
              <a:t>Cross-entropy &gt; MSE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para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clasificación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multiclase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dirty="0">
                <a:solidFill>
                  <a:srgbClr val="2B2B2B"/>
                </a:solidFill>
                <a:latin typeface="Calibri"/>
              </a:rPr>
              <a:t>La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regularizació</a:t>
            </a:r>
            <a:r>
              <a:rPr lang="en-US" sz="1350" b="1" dirty="0" err="1">
                <a:solidFill>
                  <a:srgbClr val="2B2B2B"/>
                </a:solidFill>
                <a:latin typeface="Calibri"/>
              </a:rPr>
              <a:t>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cierra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la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brecha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sobreajuste</a:t>
            </a:r>
            <a:r>
              <a:rPr sz="135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buChar char="▪"/>
            </a:pPr>
            <a:r>
              <a:rPr sz="1350" dirty="0">
                <a:solidFill>
                  <a:srgbClr val="2B2B2B"/>
                </a:solidFill>
                <a:latin typeface="Calibri"/>
              </a:rPr>
              <a:t>El </a:t>
            </a:r>
            <a:r>
              <a:rPr sz="1350" b="1" dirty="0" err="1">
                <a:solidFill>
                  <a:srgbClr val="2B2B2B"/>
                </a:solidFill>
                <a:latin typeface="Calibri"/>
              </a:rPr>
              <a:t>modelo</a:t>
            </a:r>
            <a:r>
              <a:rPr sz="1350" b="1" dirty="0">
                <a:solidFill>
                  <a:srgbClr val="2B2B2B"/>
                </a:solidFill>
                <a:latin typeface="Calibri"/>
              </a:rPr>
              <a:t> final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integra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todo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y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lidera</a:t>
            </a:r>
            <a:r>
              <a:rPr sz="1350" dirty="0">
                <a:solidFill>
                  <a:srgbClr val="2B2B2B"/>
                </a:solidFill>
                <a:latin typeface="Calibri"/>
              </a:rPr>
              <a:t> la </a:t>
            </a:r>
            <a:r>
              <a:rPr sz="1350" dirty="0" err="1">
                <a:solidFill>
                  <a:srgbClr val="2B2B2B"/>
                </a:solidFill>
                <a:latin typeface="Calibri"/>
              </a:rPr>
              <a:t>comparación</a:t>
            </a:r>
            <a:r>
              <a:rPr sz="135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36576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9903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55A868"/>
                </a:solidFill>
                <a:latin typeface="Calibri"/>
              </a:rPr>
              <a:t>✔ MLP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99032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2B2B2B"/>
                </a:solidFill>
                <a:latin typeface="Calibri"/>
              </a:rPr>
              <a:t>La red clasifica 10 caracteres cursivos con 0,9 de accuracy en test (~9× el azar).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95144"/>
            <a:ext cx="1069848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55A868"/>
                </a:solidFill>
                <a:latin typeface="Calibri"/>
              </a:rPr>
              <a:t>✔ Metodología rigurosa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368296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2B2B2B"/>
                </a:solidFill>
                <a:latin typeface="Calibri"/>
              </a:rPr>
              <a:t>Experimentos controlados (un parámetro a la vez) permitieron atribuir cada efecto a su causa.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64408"/>
            <a:ext cx="1069848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55A868"/>
                </a:solidFill>
                <a:latin typeface="Calibri"/>
              </a:rPr>
              <a:t>✔ Decisiones con 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37560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2B2B2B"/>
                </a:solidFill>
                <a:latin typeface="Calibri"/>
              </a:rPr>
              <a:t>ReLU, softmax y cross-entropy se eligieron por comparación experimental, no por intuición.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33672"/>
            <a:ext cx="1069848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06824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55A868"/>
                </a:solidFill>
                <a:latin typeface="Calibri"/>
              </a:rPr>
              <a:t>✔ Regularización efectiva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306824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2B2B2B"/>
                </a:solidFill>
                <a:latin typeface="Calibri"/>
              </a:rPr>
              <a:t>Dropout + BatchNorm redujeron el sobreajuste y estabilizaron el entrenamiento.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02936"/>
            <a:ext cx="10698480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276088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C9A227"/>
                </a:solidFill>
                <a:latin typeface="Calibri"/>
              </a:rPr>
              <a:t>➤ Trabajo futuro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276088"/>
            <a:ext cx="7040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2B2B2B"/>
                </a:solidFill>
                <a:latin typeface="Calibri"/>
              </a:rPr>
              <a:t>CNN (estructura 2D), data augmentation, búsqueda sistemática de hiperparámetros, validación cruzada.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Calibri"/>
              </a:rPr>
              <a:t>DLY0100 · Deep Learning · Evaluación Parcial N°1 — Clasificación Kuzushiji-MNIST con MLP</a:t>
            </a:r>
          </a:p>
          <a:p>
            <a:pPr algn="r"/>
            <a:endParaRPr sz="90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6B6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310128"/>
            <a:ext cx="12191695" cy="635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C9D4E8"/>
                </a:solidFill>
                <a:latin typeface="Calibri"/>
              </a:rPr>
              <a:t>Preguntas — お き す つ な は ま や れ 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1780</Words>
  <Application>Microsoft Macintosh PowerPoint</Application>
  <PresentationFormat>Widescreen</PresentationFormat>
  <Paragraphs>291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Heinrich Werner Gromsch Sanz</cp:lastModifiedBy>
  <cp:revision>9</cp:revision>
  <dcterms:created xsi:type="dcterms:W3CDTF">2013-01-27T09:14:16Z</dcterms:created>
  <dcterms:modified xsi:type="dcterms:W3CDTF">2026-10-03T00:00:06Z</dcterms:modified>
  <cp:category/>
</cp:coreProperties>
</file>